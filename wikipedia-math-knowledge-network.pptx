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8" name="Google Shape;36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6" name="Google Shape;62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3" name="Google Shape;6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8" name="Google Shape;65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74" name="Google Shape;67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9" name="Google Shape;71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0" name="Google Shape;72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0" name="Google Shape;74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6191250" cy="10287000"/>
          </a:xfrm>
          <a:prstGeom prst="rect">
            <a:avLst/>
          </a:prstGeom>
          <a:solidFill>
            <a:srgbClr val="111F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172200" y="0"/>
            <a:ext cx="247650" cy="10287000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33450" y="1524000"/>
            <a:ext cx="45720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1,068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33450" y="3276600"/>
            <a:ext cx="4572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BFD1E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BFD1E3"/>
                </a:solidFill>
                <a:latin typeface="Calibri"/>
                <a:ea typeface="Calibri"/>
                <a:cs typeface="Calibri"/>
                <a:sym typeface="Calibri"/>
              </a:rPr>
              <a:t>math pages connected by</a:t>
            </a:r>
            <a:endParaRPr/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BFD1E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BFD1E3"/>
                </a:solidFill>
                <a:latin typeface="Calibri"/>
                <a:ea typeface="Calibri"/>
                <a:cs typeface="Calibri"/>
                <a:sym typeface="Calibri"/>
              </a:rPr>
              <a:t>27,079 directed links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429500" y="1562100"/>
            <a:ext cx="942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Wikipedia Math Essentials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29500" y="2000250"/>
            <a:ext cx="76962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0"/>
              <a:buFont typeface="Calibri"/>
              <a:buNone/>
            </a:pPr>
            <a:r>
              <a:rPr b="1" lang="en-US" sz="6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Mapping math as a knowledge network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429500" y="5124450"/>
            <a:ext cx="8915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DFEA"/>
              </a:buClr>
              <a:buSzPts val="2175"/>
              <a:buFont typeface="Calibri"/>
              <a:buNone/>
            </a:pPr>
            <a:r>
              <a:rPr lang="en-US" sz="2175">
                <a:solidFill>
                  <a:srgbClr val="D6DFEA"/>
                </a:solidFill>
                <a:latin typeface="Calibri"/>
                <a:ea typeface="Calibri"/>
                <a:cs typeface="Calibri"/>
                <a:sym typeface="Calibri"/>
              </a:rPr>
              <a:t>Centrality, public attention, soft communities, latent graph structure, and what the model can actually predict.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429500" y="7791450"/>
            <a:ext cx="742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439150" y="77914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GMM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105900" y="7791450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EB4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EB4FF"/>
                </a:solidFill>
                <a:latin typeface="Calibri"/>
                <a:ea typeface="Calibri"/>
                <a:cs typeface="Calibri"/>
                <a:sym typeface="Calibri"/>
              </a:rPr>
              <a:t>SVD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677400" y="77914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B0A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B0AA"/>
                </a:solidFill>
                <a:latin typeface="Calibri"/>
                <a:ea typeface="Calibri"/>
                <a:cs typeface="Calibri"/>
                <a:sym typeface="Calibri"/>
              </a:rPr>
              <a:t>Ridge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429500" y="8953500"/>
            <a:ext cx="1847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CC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EBCCC"/>
                </a:solidFill>
                <a:latin typeface="Calibri"/>
                <a:ea typeface="Calibri"/>
                <a:cs typeface="Calibri"/>
                <a:sym typeface="Calibri"/>
              </a:rPr>
              <a:t>Manan Kothari | CSCI 4022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PROJECT QUESTION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90600" y="990600"/>
            <a:ext cx="11334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Can link structure explain what people read?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90600" y="1771650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The proposal framed Wikipedia math as both a graph and a time series.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90600" y="3000375"/>
            <a:ext cx="7820025" cy="2092452"/>
          </a:xfrm>
          <a:prstGeom prst="roundRect">
            <a:avLst>
              <a:gd fmla="val 4552" name="adj"/>
            </a:avLst>
          </a:prstGeom>
          <a:solidFill>
            <a:srgbClr val="F3F7F9"/>
          </a:solidFill>
          <a:ln cap="flat" cmpd="sng" w="9525">
            <a:solidFill>
              <a:srgbClr val="D5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257300" y="3219450"/>
            <a:ext cx="72961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 = (V, E, w)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|V| = 1,068 pages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|E| = 27,079 directed links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yᵢₜ = visits to page i on day t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90600" y="5410200"/>
            <a:ext cx="78295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Explanation: each page is a point, each hyperlink is an arrow, and each day adds a visit count for every page.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486900" y="3009900"/>
            <a:ext cx="1143000" cy="47625"/>
          </a:xfrm>
          <a:prstGeom prst="rect">
            <a:avLst/>
          </a:prstGeom>
          <a:solidFill>
            <a:srgbClr val="315CFF"/>
          </a:solidFill>
          <a:ln cap="flat" cmpd="sng" w="9525">
            <a:solidFill>
              <a:srgbClr val="31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486900" y="314325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Centrality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486900" y="350520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Which topics are structurally important inside the math link network?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486900" y="4019550"/>
            <a:ext cx="1143000" cy="47625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486900" y="417195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486900" y="453390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Do those central pages also attract more daily visits?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486900" y="5048250"/>
            <a:ext cx="1143000" cy="47625"/>
          </a:xfrm>
          <a:prstGeom prst="rect">
            <a:avLst/>
          </a:prstGeom>
          <a:solidFill>
            <a:srgbClr val="009E9A"/>
          </a:solidFill>
          <a:ln cap="flat" cmpd="sng" w="9525">
            <a:solidFill>
              <a:srgbClr val="009E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9486900" y="520065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Communities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486900" y="556260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Do soft clusters reveal pages that belong to several areas at once?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486900" y="6076950"/>
            <a:ext cx="1143000" cy="47625"/>
          </a:xfrm>
          <a:prstGeom prst="rect">
            <a:avLst/>
          </a:prstGeom>
          <a:solidFill>
            <a:srgbClr val="D95F59"/>
          </a:solidFill>
          <a:ln cap="flat" cmpd="sng" w="9525">
            <a:solidFill>
              <a:srgbClr val="D95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9486900" y="621030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486900" y="6591300"/>
            <a:ext cx="782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How much of public attention is predictable from graph structure?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90600" y="971550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proposal PDF and notebook research questions.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DATASET ANATOMY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90600" y="990600"/>
            <a:ext cx="12496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data is one network plus 731 daily snapshots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90600" y="1771650"/>
            <a:ext cx="6457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A strong project shape: static links for structure, daily visits for attention.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90600" y="2857500"/>
            <a:ext cx="335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315CFF"/>
                </a:solidFill>
                <a:latin typeface="Calibri"/>
                <a:ea typeface="Calibri"/>
                <a:cs typeface="Calibri"/>
                <a:sym typeface="Calibri"/>
              </a:rPr>
              <a:t>1,068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90600" y="3600450"/>
            <a:ext cx="335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pages / nodes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953000" y="2857500"/>
            <a:ext cx="335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27,079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953000" y="3600450"/>
            <a:ext cx="335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directed edges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915400" y="2857500"/>
            <a:ext cx="335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731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915400" y="3600450"/>
            <a:ext cx="335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daily snapshots</a:t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2877800" y="2857500"/>
            <a:ext cx="335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5F59"/>
                </a:solidFill>
                <a:latin typeface="Calibri"/>
                <a:ea typeface="Calibri"/>
                <a:cs typeface="Calibri"/>
                <a:sym typeface="Calibri"/>
              </a:rPr>
              <a:t>2019-2021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2877800" y="3600450"/>
            <a:ext cx="335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date range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90600" y="5429250"/>
            <a:ext cx="4673600" cy="2190750"/>
          </a:xfrm>
          <a:prstGeom prst="roundRect">
            <a:avLst>
              <a:gd fmla="val 5217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257300" y="5695950"/>
            <a:ext cx="4133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b="1"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Raw JSON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257300" y="6172200"/>
            <a:ext cx="4133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edges, weights, node_ids, time_periods, dated y vectors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848350" y="5429250"/>
            <a:ext cx="7620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807200" y="5429250"/>
            <a:ext cx="4673600" cy="2190750"/>
          </a:xfrm>
          <a:prstGeom prst="roundRect">
            <a:avLst>
              <a:gd fmla="val 5217" name="adj"/>
            </a:avLst>
          </a:prstGeom>
          <a:solidFill>
            <a:srgbClr val="F2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067550" y="5695950"/>
            <a:ext cx="4133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b="1"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Feature table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067550" y="6172200"/>
            <a:ext cx="4133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degree, weighted degree, PageRank, visit mean, visit volatility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1677650" y="5429250"/>
            <a:ext cx="7620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2623800" y="5429250"/>
            <a:ext cx="4673600" cy="2190750"/>
          </a:xfrm>
          <a:prstGeom prst="roundRect">
            <a:avLst>
              <a:gd fmla="val 5217" name="adj"/>
            </a:avLst>
          </a:prstGeom>
          <a:solidFill>
            <a:srgbClr val="FFF3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2896850" y="5695950"/>
            <a:ext cx="4133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b="1"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2896850" y="6172200"/>
            <a:ext cx="4133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PageRank, GMM, SVD embeddings, Ridge regression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90600" y="8248650"/>
            <a:ext cx="14001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graph is weakly connected as one full system, but every node is its own strongly connected component: links mostly point outward without many return paths.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90600" y="97155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diagnostic_summary.csv and notebook graph sanity checks.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990600" y="990600"/>
            <a:ext cx="11772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Central pages are not always the familiar ones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990600" y="1771650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PageRank rewards pages that receive links from other important pages.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90600" y="2667000"/>
            <a:ext cx="8291036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3054753"/>
            <a:ext cx="8062436" cy="56062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9795986" y="2667000"/>
            <a:ext cx="7501414" cy="1255776"/>
          </a:xfrm>
          <a:prstGeom prst="roundRect">
            <a:avLst>
              <a:gd fmla="val 7585" name="adj"/>
            </a:avLst>
          </a:prstGeom>
          <a:solidFill>
            <a:srgbClr val="F3F7F9"/>
          </a:solidFill>
          <a:ln cap="flat" cmpd="sng" w="9525">
            <a:solidFill>
              <a:srgbClr val="D5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0058400" y="2876550"/>
            <a:ext cx="6972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PR(i) = (1 − d)/N + d ∑ⱼ→ᵢ PR(j) · wⱼᵢ / ∑ₖ wⱼₖ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 = 0.85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9791700" y="4210050"/>
            <a:ext cx="7505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Explanation: a page scores highly when important pages point to it. A vote from a well-connected page counts more than a vote from an isolated one.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791700" y="5543550"/>
            <a:ext cx="7505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Result: specialized pages such as 4D rotations and 24-cell rise to the top because the link graph funnels authority into them, even though their public visits are modest.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90600" y="9715500"/>
            <a:ext cx="4267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03_top_20_pagerank.png and nodes_enriched_with_diagnostics.csv.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90600" y="990600"/>
            <a:ext cx="119824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most-read pages look more like classroom vocabulary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90600" y="2419350"/>
            <a:ext cx="501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Traffic rewards broad, teachable, and searchable topics.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990600" y="2724150"/>
            <a:ext cx="7877175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4017714"/>
            <a:ext cx="7648575" cy="379462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9429750" y="2724150"/>
            <a:ext cx="7886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b="1"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Top pages by mean daily visits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420225" y="3319501"/>
            <a:ext cx="34290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544050" y="3409950"/>
            <a:ext cx="3200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2849225" y="3319501"/>
            <a:ext cx="1809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2973050" y="3409950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visits/day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4658975" y="3319501"/>
            <a:ext cx="15240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4782800" y="340995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9420225" y="3738601"/>
            <a:ext cx="3429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544050" y="38290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Normal distribution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2849225" y="3738601"/>
            <a:ext cx="1809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2973050" y="38290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7,326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4658975" y="3738601"/>
            <a:ext cx="1524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4782800" y="38290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0.000534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9420225" y="4195801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9544050" y="42862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Standard deviation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2849225" y="4195801"/>
            <a:ext cx="1809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2973050" y="42862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7,019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4658975" y="4195801"/>
            <a:ext cx="152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4782800" y="42862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0.000391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9420225" y="4653001"/>
            <a:ext cx="3429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9544050" y="47434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Fibonacci number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2849225" y="4653001"/>
            <a:ext cx="1809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2973050" y="47434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6,190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4658975" y="4653001"/>
            <a:ext cx="1524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4782800" y="47434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0.001490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420225" y="5110201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9544050" y="52006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Pi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2849225" y="5110201"/>
            <a:ext cx="1809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2973050" y="52006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5,119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4658975" y="5110201"/>
            <a:ext cx="152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4782800" y="52006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0.000313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9420225" y="5567401"/>
            <a:ext cx="3429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9544050" y="56578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Roman numerals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2849225" y="5567401"/>
            <a:ext cx="1809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2973050" y="56578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5,103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4658975" y="5567401"/>
            <a:ext cx="1524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4782800" y="56578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0.000427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9420225" y="6024601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544050" y="611505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Prime number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2849225" y="6024601"/>
            <a:ext cx="1809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2973050" y="61150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4,608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4658975" y="6024601"/>
            <a:ext cx="152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782800" y="611505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0.000322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9429750" y="6724650"/>
            <a:ext cx="7886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traffic leaders are not the PageRank leaders. Public attention behaves like demand for explanation, not just network authority.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990600" y="9715500"/>
            <a:ext cx="453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06_top_5_visit_timeseries.png and nodes_enriched_with_diagnostics.csv.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CENTRALITY VS ATTENTION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990600" y="990600"/>
            <a:ext cx="134302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Network authority and page traffic only weakly agree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990600" y="241935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This is the project’s main tension.</a:t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90600" y="2724150"/>
            <a:ext cx="8675370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752" y="2838450"/>
            <a:ext cx="8301067" cy="61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0191750" y="2724150"/>
            <a:ext cx="71056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5F59"/>
                </a:solidFill>
                <a:latin typeface="Calibri"/>
                <a:ea typeface="Calibri"/>
                <a:cs typeface="Calibri"/>
                <a:sym typeface="Calibri"/>
              </a:rPr>
              <a:t>-0.129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0191750" y="3467100"/>
            <a:ext cx="7105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correlation: PageRank vs mean visits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0191750" y="3962400"/>
            <a:ext cx="71056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0.158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0191750" y="4705350"/>
            <a:ext cx="7105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correlation: in-degree vs mean visits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0191750" y="5219700"/>
            <a:ext cx="71056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0.188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191750" y="5962650"/>
            <a:ext cx="7105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correlation: weighted in-degree vs visits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0191750" y="6457950"/>
            <a:ext cx="71056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Interpretation: being structurally central is not the same as being popular. Links capture how math topics depend on each other; visits capture what readers need help with.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90600" y="971550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notebook correlation output and 07_pagerank_vs_mean_visits_loglog.png.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SOFT CLUSTERING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990600" y="990600"/>
            <a:ext cx="133159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GMM treats topic membership as a probability, not a label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990600" y="2419350"/>
            <a:ext cx="5562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That matters because math pages often sit between subfields.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990600" y="3333750"/>
            <a:ext cx="7492365" cy="2092452"/>
          </a:xfrm>
          <a:prstGeom prst="roundRect">
            <a:avLst>
              <a:gd fmla="val 4552" name="adj"/>
            </a:avLst>
          </a:prstGeom>
          <a:solidFill>
            <a:srgbClr val="F3F7F9"/>
          </a:solidFill>
          <a:ln cap="flat" cmpd="sng" w="9525">
            <a:solidFill>
              <a:srgbClr val="D5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257300" y="3543300"/>
            <a:ext cx="69532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x* = log(1 + x)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z = (x* − μ) / σ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p(zᵢ | c = k) = 𝓝(zᵢ | μₖ, Σₖ)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confidenceᵢ = maxₖ p(c = k | zᵢ)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90600" y="5676900"/>
            <a:ext cx="74866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Explanation: skewed features are compressed, put on the same scale, and then each page gets a probability of belonging to each cluster.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90600" y="6972300"/>
            <a:ext cx="7486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Chosen k = 5: slightly past the BIC bend, but more interpretable for the project story.</a:t>
            </a:r>
            <a:endParaRPr/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6365" y="3333750"/>
            <a:ext cx="8281035" cy="56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990600" y="9715500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gmm_bic_aic.csv and notebook GMM preprocessing.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FIVE COMMUNITIES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90600" y="990600"/>
            <a:ext cx="141160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clusters separate hubs, authorities, and high-traffic broad topics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990600" y="2419350"/>
            <a:ext cx="6267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Cluster identities come from their diagnostics, not hand-picked labels.</a:t>
            </a:r>
            <a:endParaRPr/>
          </a:p>
        </p:txBody>
      </p:sp>
      <p:pic>
        <p:nvPicPr>
          <p:cNvPr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724150"/>
            <a:ext cx="7290816" cy="63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8738616" y="2724150"/>
            <a:ext cx="1047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8858250" y="28194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9786366" y="2724150"/>
            <a:ext cx="809625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906000" y="28194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0595991" y="2724150"/>
            <a:ext cx="1047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706100" y="28194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PR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11643741" y="2724150"/>
            <a:ext cx="7620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1753850" y="28194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2405741" y="2724150"/>
            <a:ext cx="7620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2515850" y="28194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3167741" y="2724150"/>
            <a:ext cx="1000125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3277850" y="28194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4167866" y="2724150"/>
            <a:ext cx="8763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4287500" y="28194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738616" y="31432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858250" y="32385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9786366" y="3143250"/>
            <a:ext cx="8096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9906000" y="32385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0595991" y="31432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0706100" y="32385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0.00265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1643741" y="31432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1753850" y="32385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30.8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2405741" y="31432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2515850" y="32385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8.2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3167741" y="3143250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3277850" y="32385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485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4167866" y="3143250"/>
            <a:ext cx="8763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4287500" y="32385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0.942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738616" y="3600450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858250" y="36957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9786366" y="3600450"/>
            <a:ext cx="8096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9906000" y="36957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248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0595991" y="3600450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10706100" y="36957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0.00119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11643741" y="3600450"/>
            <a:ext cx="76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1753850" y="36957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17.4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2405741" y="3600450"/>
            <a:ext cx="76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12515850" y="36957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1.8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3167741" y="3600450"/>
            <a:ext cx="10001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13277850" y="36957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291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14167866" y="3600450"/>
            <a:ext cx="8763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14287500" y="36957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0.950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8738616" y="40576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8858250" y="41529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786366" y="4057650"/>
            <a:ext cx="8096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906000" y="41529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278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0595991" y="40576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10706100" y="41529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0.00096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1643741" y="40576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11753850" y="41529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30.1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2405741" y="40576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2515850" y="41529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13.6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13167741" y="4057650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13277850" y="41529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599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14167866" y="4057650"/>
            <a:ext cx="8763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4287500" y="41529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0.904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8738616" y="4514850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8858250" y="46101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9786366" y="4514850"/>
            <a:ext cx="8096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9906000" y="46101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10595991" y="4514850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10706100" y="46101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0.00052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11643741" y="4514850"/>
            <a:ext cx="76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11753850" y="46101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33.0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2405741" y="4514850"/>
            <a:ext cx="76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2515850" y="46101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46.7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13167741" y="4514850"/>
            <a:ext cx="10001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3277850" y="46101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787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4167866" y="4514850"/>
            <a:ext cx="8763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4287500" y="46101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0.894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738616" y="49720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8858250" y="50673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786366" y="4972050"/>
            <a:ext cx="8096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9906000" y="5067300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158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0595991" y="4972050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10706100" y="50673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0.00037</a:t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1643741" y="49720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1753850" y="50673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12.0</a:t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2405741" y="4972050"/>
            <a:ext cx="7620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12515850" y="50673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51.5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3167741" y="4972050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3277850" y="50673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850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4167866" y="4972050"/>
            <a:ext cx="8763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4287500" y="5067300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0.917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8743950" y="5619750"/>
            <a:ext cx="8553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Readable pattern: clusters 2 and 3 are broad, outward-linking, high-visit groups. Cluster 0 is small but high-PageRank, collecting authority from the graph.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990600" y="9715500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cluster_summary.csv and 10_gmm_cluster_sizes.png.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BRIDGE PAGES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990600" y="990600"/>
            <a:ext cx="12915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Low-confidence pages are the interesting overlaps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990600" y="1771650"/>
            <a:ext cx="6229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A soft cluster can say, 'this page belongs partly here and partly there.'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990600" y="2724150"/>
            <a:ext cx="7886700" cy="1255776"/>
          </a:xfrm>
          <a:prstGeom prst="roundRect">
            <a:avLst>
              <a:gd fmla="val 7585" name="adj"/>
            </a:avLst>
          </a:prstGeom>
          <a:solidFill>
            <a:srgbClr val="F3F7F9"/>
          </a:solidFill>
          <a:ln cap="flat" cmpd="sng" w="9525">
            <a:solidFill>
              <a:srgbClr val="D5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1257300" y="2933700"/>
            <a:ext cx="7353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Hᵢ = − ∑ₖ pᵢₖ log(pᵢₖ)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Hᵢ(normalized) = Hᵢ / log(K)</a:t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990600" y="4189476"/>
            <a:ext cx="3333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104900" y="42862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4324350" y="4189476"/>
            <a:ext cx="95250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438650" y="428625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276850" y="4189476"/>
            <a:ext cx="1000125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5391150" y="428625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276975" y="4189476"/>
            <a:ext cx="1047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400800" y="428625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Entropy</a:t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990600" y="4608576"/>
            <a:ext cx="3333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104900" y="46863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Even and odd functions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324350" y="4608576"/>
            <a:ext cx="9525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438650" y="46863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276850" y="4608576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391150" y="46863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0.385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276975" y="4608576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400800" y="46863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0.704</a:t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990600" y="5065776"/>
            <a:ext cx="3333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104900" y="51435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Right angle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324350" y="5065776"/>
            <a:ext cx="9525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438650" y="51435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276850" y="5065776"/>
            <a:ext cx="10001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5391150" y="51435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0.386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276975" y="5065776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6400800" y="51435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0.681</a:t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990600" y="5522976"/>
            <a:ext cx="3333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104900" y="56007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Field extension</a:t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4324350" y="5522976"/>
            <a:ext cx="9525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438650" y="56007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5276850" y="5522976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391150" y="56007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0.391</a:t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6276975" y="5522976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400800" y="56007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0.680</a:t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990600" y="5980176"/>
            <a:ext cx="3333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104900" y="60579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Harmonic analysis</a:t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324350" y="5980176"/>
            <a:ext cx="9525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4438650" y="60579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5276850" y="5980176"/>
            <a:ext cx="10001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391150" y="60579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0.396</a:t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276975" y="5980176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400800" y="60579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0.702</a:t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990600" y="6437376"/>
            <a:ext cx="3333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1104900" y="65151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Model of computation</a:t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324350" y="6437376"/>
            <a:ext cx="9525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4438650" y="65151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5276850" y="6437376"/>
            <a:ext cx="1000125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5391150" y="65151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0.403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6276975" y="6437376"/>
            <a:ext cx="1047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6400800" y="65151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0.663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990600" y="6894576"/>
            <a:ext cx="3333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104900" y="697230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Fixed point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324350" y="6894576"/>
            <a:ext cx="9525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4438650" y="6972300"/>
            <a:ext cx="723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5276850" y="6894576"/>
            <a:ext cx="100012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391150" y="69723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0.420</a:t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6276975" y="6894576"/>
            <a:ext cx="1047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6400800" y="697230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0.661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990600" y="7562850"/>
            <a:ext cx="7886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High entropy means the model is split across several clusters. These are likely conceptual bridge pages.</a:t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9410700" y="2724150"/>
            <a:ext cx="7886700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0" y="2947410"/>
            <a:ext cx="7658100" cy="593522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/>
          <p:nvPr/>
        </p:nvSpPr>
        <p:spPr>
          <a:xfrm>
            <a:off x="990600" y="9715500"/>
            <a:ext cx="4895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ambiguous_soft_cluster_pages.csv and 17_zoomed_svd_gmm_confidence.png.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SVD DIRECTIONS</a:t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990600" y="990600"/>
            <a:ext cx="137160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Anchor pages make the latent directions interpretable</a:t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990600" y="2419350"/>
            <a:ext cx="5676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Result: the extremes show what each component is separating.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990600" y="3048000"/>
            <a:ext cx="7924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025"/>
              <a:buFont typeface="Calibri"/>
              <a:buNone/>
            </a:pPr>
            <a:r>
              <a:rPr b="1" lang="en-US" sz="20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SVD 1: optimization / programming direction</a:t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990600" y="3562350"/>
            <a:ext cx="7924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Top positive pages</a:t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990600" y="3868103"/>
            <a:ext cx="28575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104900" y="39624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3848100" y="3868103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3962400" y="39624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svd_1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629150" y="3868103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4743450" y="39624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410200" y="3868103"/>
            <a:ext cx="400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5524500" y="39624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5810250" y="3868103"/>
            <a:ext cx="6858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5924550" y="39624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990600" y="42300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1104900" y="43243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Karush–Kuhn–Tucker conditions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3848100" y="42300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3962400" y="43243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0.997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4629150" y="42300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4743450" y="43243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568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5410200" y="42300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5524500" y="43243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810250" y="42300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924550" y="4324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0.999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990600" y="4592003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1104900" y="46863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Jensen's inequality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3848100" y="45920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3962400" y="4686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0.997</a:t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4629150" y="45920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743450" y="4686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701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410200" y="4592003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524500" y="46863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5810250" y="4592003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924550" y="46863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0.997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990600" y="49539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1104900" y="50482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Transportation theory (mathema...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3848100" y="49539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3962400" y="5048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0.997</a:t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4629150" y="49539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4743450" y="5048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148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5410200" y="49539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5524500" y="50482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5810250" y="49539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5924550" y="50482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0.979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990600" y="5315903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104900" y="54102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Hungarian algorithm</a:t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3848100" y="53159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3962400" y="5410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0.359</a:t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4629150" y="53159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743450" y="5410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373</a:t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5410200" y="5315903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5524500" y="54102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810250" y="5315903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5924550" y="54102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0.998</a:t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990600" y="56778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1104900" y="57721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Nonlinear programming</a:t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3848100" y="56778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3962400" y="5772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0.268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4629150" y="56778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4743450" y="5772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221</a:t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410200" y="56778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5524500" y="57721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5810250" y="56778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5924550" y="57721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0.882</a:t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990600" y="6191250"/>
            <a:ext cx="7924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Top negative pages</a:t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990600" y="6498831"/>
            <a:ext cx="28575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1104900" y="65913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3848100" y="6498831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3962400" y="6591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svd_1</a:t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4629150" y="6498831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4743450" y="6591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5410200" y="6498831"/>
            <a:ext cx="400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5524500" y="65913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5810250" y="6498831"/>
            <a:ext cx="6858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5924550" y="65913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990600" y="68607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1104900" y="69532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Blum's speedup theorem</a:t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3848100" y="68607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3962400" y="6953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-1.80e-5</a:t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4629150" y="68607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743450" y="6953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5410200" y="68607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5524500" y="69532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5810250" y="68607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5924550" y="69532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990600" y="7222731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1104900" y="73152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Five lemma</a:t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3848100" y="72227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3962400" y="7315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-1.45e-5</a:t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629150" y="72227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743450" y="7315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5410200" y="7222731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5524500" y="73152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5810250" y="7222731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5924550" y="73152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0.982</a:t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990600" y="75846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1104900" y="76771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Snake lemma</a:t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3848100" y="75846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3962400" y="7677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-2.45e-6</a:t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629150" y="75846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743450" y="7677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5410200" y="75846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5524500" y="76771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5810250" y="75846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5924550" y="76771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0.860</a:t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990600" y="7946631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1104900" y="80391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Time hierarchy theorem</a:t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3848100" y="79466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3962400" y="80391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-1.87e-6</a:t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4629150" y="79466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4743450" y="80391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5410200" y="7946631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5524500" y="80391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5810250" y="7946631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5924550" y="80391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0.861</a:t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990600" y="83085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1104900" y="84010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Limits of integration</a:t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3848100" y="83085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3962400" y="84010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0.000</a:t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4629150" y="83085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4743450" y="84010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5410200" y="83085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5524500" y="84010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5810250" y="83085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5924550" y="84010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0.998</a:t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9372600" y="3048000"/>
            <a:ext cx="7924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025"/>
              <a:buFont typeface="Calibri"/>
              <a:buNone/>
            </a:pPr>
            <a:r>
              <a:rPr b="1" lang="en-US" sz="20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SVD 2: number theory direction</a:t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9372600" y="3562350"/>
            <a:ext cx="7924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Top positive pages</a:t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9372600" y="3868103"/>
            <a:ext cx="28575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9486900" y="39624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12230100" y="3868103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12344400" y="39624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svd_2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3011150" y="3868103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13125450" y="39624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3792200" y="3868103"/>
            <a:ext cx="400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13906500" y="39624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4192250" y="3868103"/>
            <a:ext cx="6858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4306550" y="39624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9372600" y="42300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9486900" y="43243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Möbius function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12230100" y="42300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12344400" y="43243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0.971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3011150" y="42300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13125450" y="43243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159</a:t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3792200" y="42300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13906500" y="43243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14192250" y="42300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14306550" y="4324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0.812</a:t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9372600" y="4592003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9486900" y="46863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Additive function</a:t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12230100" y="45920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12344400" y="4686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0.971</a:t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13011150" y="45920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13125450" y="4686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13792200" y="4592003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13906500" y="46863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14192250" y="4592003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14306550" y="46863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0.962</a:t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9372600" y="49539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9486900" y="50482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Möbius inversion formula</a:t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12230100" y="49539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12344400" y="5048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0.543</a:t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13011150" y="49539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13125450" y="5048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13792200" y="49539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13906500" y="50482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14192250" y="49539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14306550" y="50482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0.890</a:t>
            </a: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9372600" y="5315903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9486900" y="54102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Dirichlet character</a:t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12230100" y="53159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12344400" y="5410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0.397</a:t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13011150" y="5315903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13125450" y="5410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13792200" y="5315903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13906500" y="54102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14192250" y="5315903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14306550" y="54102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0.841</a:t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9372600" y="5677853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9486900" y="57721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Legendre symbol</a:t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12230100" y="56778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12344400" y="5772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0.382</a:t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13011150" y="5677853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"/>
          <p:cNvSpPr/>
          <p:nvPr/>
        </p:nvSpPr>
        <p:spPr>
          <a:xfrm>
            <a:off x="13125450" y="5772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13792200" y="5677853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13906500" y="57721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14192250" y="5677853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14306550" y="57721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0.950</a:t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9372600" y="6191250"/>
            <a:ext cx="7924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Top negative pages</a:t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9372600" y="6498831"/>
            <a:ext cx="28575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9486900" y="65913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12230100" y="6498831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12344400" y="6591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svd_2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13011150" y="6498831"/>
            <a:ext cx="781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13125450" y="65913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13792200" y="6498831"/>
            <a:ext cx="40005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13906500" y="65913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14192250" y="6498831"/>
            <a:ext cx="685800" cy="36195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14306550" y="65913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Conf.</a:t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9372600" y="68607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9486900" y="69532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Karush–Kuhn–Tucker conditions</a:t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12230100" y="68607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12344400" y="6953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-6.97e-4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13011150" y="68607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13125450" y="69532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568</a:t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13792200" y="68607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13906500" y="69532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14192250" y="68607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14306550" y="69532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0.999</a:t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9372600" y="7222731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9486900" y="73152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Jensen's inequality</a:t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12230100" y="72227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12344400" y="7315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-6.97e-4</a:t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13011150" y="72227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13125450" y="73152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701</a:t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13792200" y="7222731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13906500" y="73152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14192250" y="7222731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14306550" y="73152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0.997</a:t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9372600" y="75846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9486900" y="76771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Transportation theory (mathema...</a:t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12230100" y="75846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12344400" y="7677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-6.97e-4</a:t>
            </a: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13011150" y="75846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13125450" y="76771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148</a:t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13792200" y="75846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13906500" y="76771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14192250" y="75846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14306550" y="76771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0.979</a:t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9372600" y="7946631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9486900" y="803910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Gauss–Seidel method</a:t>
            </a: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12230100" y="79466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12344400" y="80391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-1.45e-4</a:t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13011150" y="7946631"/>
            <a:ext cx="781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2"/>
          <p:cNvSpPr/>
          <p:nvPr/>
        </p:nvSpPr>
        <p:spPr>
          <a:xfrm>
            <a:off x="13125450" y="803910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379</a:t>
            </a: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13792200" y="7946631"/>
            <a:ext cx="400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2"/>
          <p:cNvSpPr/>
          <p:nvPr/>
        </p:nvSpPr>
        <p:spPr>
          <a:xfrm>
            <a:off x="13906500" y="803910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14192250" y="7946631"/>
            <a:ext cx="6858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2"/>
          <p:cNvSpPr/>
          <p:nvPr/>
        </p:nvSpPr>
        <p:spPr>
          <a:xfrm>
            <a:off x="14306550" y="80391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0.994</a:t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9372600" y="8308581"/>
            <a:ext cx="28575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2"/>
          <p:cNvSpPr/>
          <p:nvPr/>
        </p:nvSpPr>
        <p:spPr>
          <a:xfrm>
            <a:off x="9486900" y="84010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Jacobi method</a:t>
            </a:r>
            <a:endParaRPr/>
          </a:p>
        </p:txBody>
      </p:sp>
      <p:sp>
        <p:nvSpPr>
          <p:cNvPr id="612" name="Google Shape;612;p12"/>
          <p:cNvSpPr/>
          <p:nvPr/>
        </p:nvSpPr>
        <p:spPr>
          <a:xfrm>
            <a:off x="12230100" y="83085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12344400" y="84010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-5.78e-5</a:t>
            </a:r>
            <a:endParaRPr/>
          </a:p>
        </p:txBody>
      </p:sp>
      <p:sp>
        <p:nvSpPr>
          <p:cNvPr id="614" name="Google Shape;614;p12"/>
          <p:cNvSpPr/>
          <p:nvPr/>
        </p:nvSpPr>
        <p:spPr>
          <a:xfrm>
            <a:off x="13011150" y="8308581"/>
            <a:ext cx="781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2"/>
          <p:cNvSpPr/>
          <p:nvPr/>
        </p:nvSpPr>
        <p:spPr>
          <a:xfrm>
            <a:off x="13125450" y="84010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276</a:t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13792200" y="8308581"/>
            <a:ext cx="40005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2"/>
          <p:cNvSpPr/>
          <p:nvPr/>
        </p:nvSpPr>
        <p:spPr>
          <a:xfrm>
            <a:off x="13906500" y="8401050"/>
            <a:ext cx="171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14192250" y="8308581"/>
            <a:ext cx="685800" cy="3619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14306550" y="84010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0.994</a:t>
            </a:r>
            <a:endParaRPr/>
          </a:p>
        </p:txBody>
      </p:sp>
      <p:sp>
        <p:nvSpPr>
          <p:cNvPr id="620" name="Google Shape;620;p12"/>
          <p:cNvSpPr/>
          <p:nvPr/>
        </p:nvSpPr>
        <p:spPr>
          <a:xfrm>
            <a:off x="9372600" y="8820150"/>
            <a:ext cx="792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Result: SVD 1 is anchored by KKT, Jensen, transportation theory, and optimization pages. SVD 2 is anchored by Möbius, Dirichlet, Legendre, and totient pages.</a:t>
            </a: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990600" y="9715500"/>
            <a:ext cx="5067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notebook show_svd_component output and nodes_enriched_with_diagnostics.csv.</a:t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3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LATENT STRUCTURE</a:t>
            </a:r>
            <a:endParaRPr/>
          </a:p>
        </p:txBody>
      </p:sp>
      <p:sp>
        <p:nvSpPr>
          <p:cNvPr id="630" name="Google Shape;630;p13"/>
          <p:cNvSpPr/>
          <p:nvPr/>
        </p:nvSpPr>
        <p:spPr>
          <a:xfrm>
            <a:off x="990600" y="990600"/>
            <a:ext cx="130302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No single SVD component explains the graph alone</a:t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990600" y="1771650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The signal is spread across multiple latent directions.</a:t>
            </a:r>
            <a:endParaRPr/>
          </a:p>
        </p:txBody>
      </p:sp>
      <p:sp>
        <p:nvSpPr>
          <p:cNvPr id="632" name="Google Shape;632;p13"/>
          <p:cNvSpPr/>
          <p:nvPr/>
        </p:nvSpPr>
        <p:spPr>
          <a:xfrm>
            <a:off x="990600" y="2724150"/>
            <a:ext cx="7896225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3" name="Google Shape;6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3543655"/>
            <a:ext cx="7667625" cy="4742741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3"/>
          <p:cNvSpPr/>
          <p:nvPr/>
        </p:nvSpPr>
        <p:spPr>
          <a:xfrm>
            <a:off x="9401175" y="2724150"/>
            <a:ext cx="7896225" cy="3381375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5" name="Google Shape;6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4496" y="2838450"/>
            <a:ext cx="5049584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3"/>
          <p:cNvSpPr/>
          <p:nvPr/>
        </p:nvSpPr>
        <p:spPr>
          <a:xfrm>
            <a:off x="9410700" y="6343650"/>
            <a:ext cx="7905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Cluster means differ across SVD components, so the soft communities are not arbitrary; they align with latent graph positions.</a:t>
            </a: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9410700" y="7258050"/>
            <a:ext cx="790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The important caution: SVD components are mathematical directions first. Naming them requires inspecting the pages at the extremes.</a:t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990600" y="9715500"/>
            <a:ext cx="478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13_svd_scree_plot.png and 18_svd_component_means_by_gmm_cluster.png.</a:t>
            </a:r>
            <a:endParaRPr/>
          </a:p>
        </p:txBody>
      </p:sp>
      <p:sp>
        <p:nvSpPr>
          <p:cNvPr id="639" name="Google Shape;639;p13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PREDICTION TEST</a:t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990600" y="990600"/>
            <a:ext cx="140017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regression asks how much attention the graph can explain</a:t>
            </a:r>
            <a:endParaRPr/>
          </a:p>
        </p:txBody>
      </p:sp>
      <p:sp>
        <p:nvSpPr>
          <p:cNvPr id="648" name="Google Shape;648;p14"/>
          <p:cNvSpPr/>
          <p:nvPr/>
        </p:nvSpPr>
        <p:spPr>
          <a:xfrm>
            <a:off x="990600" y="2419350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The target is log-transformed so a few huge pages do not dominate the model.</a:t>
            </a:r>
            <a:endParaRPr/>
          </a:p>
        </p:txBody>
      </p:sp>
      <p:sp>
        <p:nvSpPr>
          <p:cNvPr id="649" name="Google Shape;649;p14"/>
          <p:cNvSpPr/>
          <p:nvPr/>
        </p:nvSpPr>
        <p:spPr>
          <a:xfrm>
            <a:off x="990600" y="2724150"/>
            <a:ext cx="7501414" cy="1674114"/>
          </a:xfrm>
          <a:prstGeom prst="roundRect">
            <a:avLst>
              <a:gd fmla="val 5690" name="adj"/>
            </a:avLst>
          </a:prstGeom>
          <a:solidFill>
            <a:srgbClr val="F3F7F9"/>
          </a:solidFill>
          <a:ln cap="flat" cmpd="sng" w="9525">
            <a:solidFill>
              <a:srgbClr val="D5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1257300" y="2933700"/>
            <a:ext cx="6972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yᵢ = log(1 + mean visitsᵢ)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minᵦ ‖y − Xβ‖² + α‖β‖²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2250"/>
              <a:buFont typeface="Calibri"/>
              <a:buNone/>
            </a:pPr>
            <a:r>
              <a:rPr i="1" lang="en-US" sz="22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X = centrality features + SVD features</a:t>
            </a: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990600" y="4648200"/>
            <a:ext cx="7505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Explanation: predict page attention from graph measurements while shrinking coefficients so the model does not overreact to noise.</a:t>
            </a:r>
            <a:endParaRPr/>
          </a:p>
        </p:txBody>
      </p:sp>
      <p:pic>
        <p:nvPicPr>
          <p:cNvPr id="652" name="Google Shape;6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6364" y="2724150"/>
            <a:ext cx="8291036" cy="63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4"/>
          <p:cNvSpPr/>
          <p:nvPr/>
        </p:nvSpPr>
        <p:spPr>
          <a:xfrm>
            <a:off x="990600" y="9715500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regression_results.csv and notebook RidgeCV model.</a:t>
            </a:r>
            <a:endParaRPr/>
          </a:p>
        </p:txBody>
      </p:sp>
      <p:sp>
        <p:nvSpPr>
          <p:cNvPr id="654" name="Google Shape;654;p14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MODEL FIT</a:t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990600" y="990600"/>
            <a:ext cx="130492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model explains a little attention, but leaves plenty unexplained</a:t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990600" y="2419350"/>
            <a:ext cx="535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Best model: centrality_plus_svd, R² = 0.242, RMSE = 1.098.</a:t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990600" y="2724150"/>
            <a:ext cx="7896225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5" name="Google Shape;6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62" y="2838450"/>
            <a:ext cx="6160301" cy="61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5"/>
          <p:cNvSpPr/>
          <p:nvPr/>
        </p:nvSpPr>
        <p:spPr>
          <a:xfrm>
            <a:off x="9401175" y="2724150"/>
            <a:ext cx="7896225" cy="5457749"/>
          </a:xfrm>
          <a:prstGeom prst="roundRect">
            <a:avLst>
              <a:gd fmla="val 2094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7" name="Google Shape;6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5475" y="3081654"/>
            <a:ext cx="7667625" cy="474274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5"/>
          <p:cNvSpPr/>
          <p:nvPr/>
        </p:nvSpPr>
        <p:spPr>
          <a:xfrm>
            <a:off x="9410700" y="8401050"/>
            <a:ext cx="7905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 prediction cloud follows the right direction but stays wide. Graph structure is informative, not destiny.</a:t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990600" y="9715500"/>
            <a:ext cx="506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19_regression_predicted_vs_actual.png and 20_regression_residuals_vs_fitted.png.</a:t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/>
          </a:p>
        </p:txBody>
      </p:sp>
      <p:sp>
        <p:nvSpPr>
          <p:cNvPr id="678" name="Google Shape;678;p16"/>
          <p:cNvSpPr/>
          <p:nvPr/>
        </p:nvSpPr>
        <p:spPr>
          <a:xfrm>
            <a:off x="990600" y="990600"/>
            <a:ext cx="134302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Outgoing link structure carries the strongest positive signal</a:t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990600" y="2419350"/>
            <a:ext cx="6076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Ridge coefficients are standardized, so magnitudes are comparable.</a:t>
            </a: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990600" y="2724150"/>
            <a:ext cx="8527923" cy="638175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3028377"/>
            <a:ext cx="8299323" cy="577329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6"/>
          <p:cNvSpPr/>
          <p:nvPr/>
        </p:nvSpPr>
        <p:spPr>
          <a:xfrm>
            <a:off x="10032873" y="2724150"/>
            <a:ext cx="3714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10153650" y="2819400"/>
            <a:ext cx="3486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13747623" y="2724150"/>
            <a:ext cx="1428750" cy="4191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13868400" y="281940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Coeff.</a:t>
            </a:r>
            <a:endParaRPr/>
          </a:p>
        </p:txBody>
      </p:sp>
      <p:sp>
        <p:nvSpPr>
          <p:cNvPr id="686" name="Google Shape;686;p16"/>
          <p:cNvSpPr/>
          <p:nvPr/>
        </p:nvSpPr>
        <p:spPr>
          <a:xfrm>
            <a:off x="10032873" y="3143250"/>
            <a:ext cx="3714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10153650" y="32385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weighted_out_degree</a:t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13747623" y="3143250"/>
            <a:ext cx="1428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13868400" y="32385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+0.227</a:t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10032873" y="3600450"/>
            <a:ext cx="3714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10153650" y="36957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out_degree</a:t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13747623" y="3600450"/>
            <a:ext cx="1428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13868400" y="36957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+0.183</a:t>
            </a:r>
            <a:endParaRPr/>
          </a:p>
        </p:txBody>
      </p:sp>
      <p:sp>
        <p:nvSpPr>
          <p:cNvPr id="694" name="Google Shape;694;p16"/>
          <p:cNvSpPr/>
          <p:nvPr/>
        </p:nvSpPr>
        <p:spPr>
          <a:xfrm>
            <a:off x="10032873" y="4057650"/>
            <a:ext cx="3714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10153650" y="41529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weighted_in_degree</a:t>
            </a:r>
            <a:endParaRPr/>
          </a:p>
        </p:txBody>
      </p:sp>
      <p:sp>
        <p:nvSpPr>
          <p:cNvPr id="696" name="Google Shape;696;p16"/>
          <p:cNvSpPr/>
          <p:nvPr/>
        </p:nvSpPr>
        <p:spPr>
          <a:xfrm>
            <a:off x="13747623" y="4057650"/>
            <a:ext cx="1428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13868400" y="41529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+0.163</a:t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10032873" y="4514850"/>
            <a:ext cx="3714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10153650" y="46101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in_degree</a:t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13747623" y="4514850"/>
            <a:ext cx="1428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13868400" y="46101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+0.149</a:t>
            </a: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10032873" y="4972050"/>
            <a:ext cx="3714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6"/>
          <p:cNvSpPr/>
          <p:nvPr/>
        </p:nvSpPr>
        <p:spPr>
          <a:xfrm>
            <a:off x="10153650" y="50673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/>
          </a:p>
        </p:txBody>
      </p:sp>
      <p:sp>
        <p:nvSpPr>
          <p:cNvPr id="704" name="Google Shape;704;p16"/>
          <p:cNvSpPr/>
          <p:nvPr/>
        </p:nvSpPr>
        <p:spPr>
          <a:xfrm>
            <a:off x="13747623" y="4972050"/>
            <a:ext cx="1428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13868400" y="50673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-0.113</a:t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10032873" y="5429250"/>
            <a:ext cx="3714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10153650" y="55245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svd_10</a:t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13747623" y="5429250"/>
            <a:ext cx="142875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13868400" y="55245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+0.107</a:t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10032873" y="5886450"/>
            <a:ext cx="3714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10153650" y="598170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svd_19</a:t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13747623" y="5886450"/>
            <a:ext cx="142875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13868400" y="59817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75"/>
              <a:buFont typeface="Calibri"/>
              <a:buNone/>
            </a:pPr>
            <a:r>
              <a:rPr lang="en-US" sz="1275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+0.100</a:t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10039350" y="6572250"/>
            <a:ext cx="72580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950"/>
              <a:buFont typeface="Calibri"/>
              <a:buNone/>
            </a:pPr>
            <a:r>
              <a:rPr lang="en-US" sz="19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Result: pages that point outward to many other pages tend to be more visited. PageRank alone does not explain traffic once other graph features enter the model.</a:t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990600" y="9715500"/>
            <a:ext cx="4133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ridge_coefficients.csv and 22_regression_feature_coefficients.png.</a:t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"/>
          <p:cNvSpPr/>
          <p:nvPr/>
        </p:nvSpPr>
        <p:spPr>
          <a:xfrm>
            <a:off x="990600" y="876300"/>
            <a:ext cx="1428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Bottom line</a:t>
            </a:r>
            <a:endParaRPr/>
          </a:p>
        </p:txBody>
      </p:sp>
      <p:sp>
        <p:nvSpPr>
          <p:cNvPr id="724" name="Google Shape;724;p17"/>
          <p:cNvSpPr/>
          <p:nvPr/>
        </p:nvSpPr>
        <p:spPr>
          <a:xfrm>
            <a:off x="990600" y="1238250"/>
            <a:ext cx="1028700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Calibri"/>
              <a:buNone/>
            </a:pPr>
            <a:r>
              <a:rPr b="1" lang="en-US" sz="5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Wikipedia math has two maps: structure and attention</a:t>
            </a:r>
            <a:endParaRPr/>
          </a:p>
        </p:txBody>
      </p:sp>
      <p:sp>
        <p:nvSpPr>
          <p:cNvPr id="725" name="Google Shape;725;p17"/>
          <p:cNvSpPr/>
          <p:nvPr/>
        </p:nvSpPr>
        <p:spPr>
          <a:xfrm>
            <a:off x="990600" y="4000500"/>
            <a:ext cx="50863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1,068 / 27,079</a:t>
            </a: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990600" y="4743450"/>
            <a:ext cx="50863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graph coverage</a:t>
            </a: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990600" y="512445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AD6E3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CAD6E3"/>
                </a:solidFill>
                <a:latin typeface="Calibri"/>
                <a:ea typeface="Calibri"/>
                <a:cs typeface="Calibri"/>
                <a:sym typeface="Calibri"/>
              </a:rPr>
              <a:t>A single weakly connected network, but not a reciprocal one.</a:t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6591300" y="4000500"/>
            <a:ext cx="50863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5 groups</a:t>
            </a:r>
            <a:endParaRPr/>
          </a:p>
        </p:txBody>
      </p:sp>
      <p:sp>
        <p:nvSpPr>
          <p:cNvPr id="729" name="Google Shape;729;p17"/>
          <p:cNvSpPr/>
          <p:nvPr/>
        </p:nvSpPr>
        <p:spPr>
          <a:xfrm>
            <a:off x="6591300" y="4743450"/>
            <a:ext cx="50863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soft clustering</a:t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6591300" y="512445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AD6E3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CAD6E3"/>
                </a:solidFill>
                <a:latin typeface="Calibri"/>
                <a:ea typeface="Calibri"/>
                <a:cs typeface="Calibri"/>
                <a:sym typeface="Calibri"/>
              </a:rPr>
              <a:t>Mean confidence is high at 0.917, but 50 pages below 0.60 reveal bridge topics.</a:t>
            </a:r>
            <a:endParaRPr/>
          </a:p>
        </p:txBody>
      </p:sp>
      <p:sp>
        <p:nvSpPr>
          <p:cNvPr id="731" name="Google Shape;731;p17"/>
          <p:cNvSpPr/>
          <p:nvPr/>
        </p:nvSpPr>
        <p:spPr>
          <a:xfrm>
            <a:off x="12211050" y="4000500"/>
            <a:ext cx="50863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D95F59"/>
                </a:solidFill>
                <a:latin typeface="Calibri"/>
                <a:ea typeface="Calibri"/>
                <a:cs typeface="Calibri"/>
                <a:sym typeface="Calibri"/>
              </a:rPr>
              <a:t>R² = 0.242</a:t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12211050" y="4743450"/>
            <a:ext cx="50863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predictive ceiling</a:t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12211050" y="512445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AD6E3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CAD6E3"/>
                </a:solidFill>
                <a:latin typeface="Calibri"/>
                <a:ea typeface="Calibri"/>
                <a:cs typeface="Calibri"/>
                <a:sym typeface="Calibri"/>
              </a:rPr>
              <a:t>Structure is not </a:t>
            </a:r>
            <a:r>
              <a:rPr lang="en-US" sz="1575">
                <a:solidFill>
                  <a:srgbClr val="CAD6E3"/>
                </a:solidFill>
                <a:latin typeface="Calibri"/>
                <a:ea typeface="Calibri"/>
                <a:cs typeface="Calibri"/>
                <a:sym typeface="Calibri"/>
              </a:rPr>
              <a:t>crucial</a:t>
            </a:r>
            <a:r>
              <a:rPr lang="en-US" sz="1575">
                <a:solidFill>
                  <a:srgbClr val="CAD6E3"/>
                </a:solidFill>
                <a:latin typeface="Calibri"/>
                <a:ea typeface="Calibri"/>
                <a:cs typeface="Calibri"/>
                <a:sym typeface="Calibri"/>
              </a:rPr>
              <a:t> to predict attention, reader demand and outside context still matter.</a:t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990600" y="7772400"/>
            <a:ext cx="13582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alibri"/>
              <a:buNone/>
            </a:pPr>
            <a:r>
              <a:rPr lang="en-US" sz="23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project succeeds because it does more than rank pages: it compares authority, popularity, overlap, latent graph position, and predictive limits in one coherent analysis.</a:t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990600" y="9715500"/>
            <a:ext cx="4591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Source: diagnostic_summary.csv, cluster_summary.csv, and regression_results.csv.</a:t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14916150" y="971550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990600" y="666750"/>
            <a:ext cx="157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990600" y="990600"/>
            <a:ext cx="40957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Methods &amp; Data</a:t>
            </a:r>
            <a:endParaRPr/>
          </a:p>
        </p:txBody>
      </p:sp>
      <p:sp>
        <p:nvSpPr>
          <p:cNvPr id="745" name="Google Shape;745;p18"/>
          <p:cNvSpPr/>
          <p:nvPr/>
        </p:nvSpPr>
        <p:spPr>
          <a:xfrm>
            <a:off x="990600" y="2419350"/>
            <a:ext cx="6210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Original method formulas, notation, source data, and project artifacts.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990600" y="33337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Directed weighted graph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990600" y="36004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G = (V, E, w),   |V| = 1,068,   |E| = 27,079</a:t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990600" y="40195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Pages are nodes; hyperlinks are directed weighted edges.</a:t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990600" y="43815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990600" y="464820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PR(i) = (1 − d)/N + d ∑ⱼ→ᵢ PR(j) · wⱼᵢ / ∑ₖ wⱼₖ,   d = 0.85</a:t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990600" y="50482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Centrality from incoming links weighted by the importance of linking pages.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990600" y="54102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GMM preprocessing</a:t>
            </a: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990600" y="56959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x* = log(1 + x),   z = (x* − μ) / σ</a:t>
            </a: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990600" y="60960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Skewed nonnegative variables are compressed and standardized.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990600" y="64579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GMM probability</a:t>
            </a: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990600" y="67246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p(zᵢ | c = k) = 𝓝(zᵢ | μₖ, Σₖ),   confidenceᵢ = maxₖ p(c = k | zᵢ)</a:t>
            </a:r>
            <a:endParaRPr/>
          </a:p>
        </p:txBody>
      </p:sp>
      <p:sp>
        <p:nvSpPr>
          <p:cNvPr id="757" name="Google Shape;757;p18"/>
          <p:cNvSpPr/>
          <p:nvPr/>
        </p:nvSpPr>
        <p:spPr>
          <a:xfrm>
            <a:off x="990600" y="71437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Soft cluster assignments, not hard subject labels.</a:t>
            </a: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990600" y="75057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Entropy</a:t>
            </a:r>
            <a:endParaRPr/>
          </a:p>
        </p:txBody>
      </p:sp>
      <p:sp>
        <p:nvSpPr>
          <p:cNvPr id="759" name="Google Shape;759;p18"/>
          <p:cNvSpPr/>
          <p:nvPr/>
        </p:nvSpPr>
        <p:spPr>
          <a:xfrm>
            <a:off x="990600" y="777240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Hᵢ = − ∑ₖ pᵢₖ log(pᵢₖ),   Hᵢ(norm) = Hᵢ / log(K)</a:t>
            </a:r>
            <a:endParaRPr/>
          </a:p>
        </p:txBody>
      </p:sp>
      <p:sp>
        <p:nvSpPr>
          <p:cNvPr id="760" name="Google Shape;760;p18"/>
          <p:cNvSpPr/>
          <p:nvPr/>
        </p:nvSpPr>
        <p:spPr>
          <a:xfrm>
            <a:off x="990600" y="81915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Higher entropy marks pages that bridge several clusters.</a:t>
            </a:r>
            <a:endParaRPr/>
          </a:p>
        </p:txBody>
      </p:sp>
      <p:sp>
        <p:nvSpPr>
          <p:cNvPr id="761" name="Google Shape;761;p18"/>
          <p:cNvSpPr/>
          <p:nvPr/>
        </p:nvSpPr>
        <p:spPr>
          <a:xfrm>
            <a:off x="9410700" y="33337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SVD graph embedding</a:t>
            </a:r>
            <a:endParaRPr/>
          </a:p>
        </p:txBody>
      </p:sp>
      <p:sp>
        <p:nvSpPr>
          <p:cNvPr id="762" name="Google Shape;762;p18"/>
          <p:cNvSpPr/>
          <p:nvPr/>
        </p:nvSpPr>
        <p:spPr>
          <a:xfrm>
            <a:off x="9410700" y="36004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A_norm ≈ UₖΣₖVₖᵀ,   page embedding = UₖΣₖ</a:t>
            </a:r>
            <a:endParaRPr/>
          </a:p>
        </p:txBody>
      </p:sp>
      <p:sp>
        <p:nvSpPr>
          <p:cNvPr id="763" name="Google Shape;763;p18"/>
          <p:cNvSpPr/>
          <p:nvPr/>
        </p:nvSpPr>
        <p:spPr>
          <a:xfrm>
            <a:off x="9410700" y="40195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Low-dimensional representation of directed link patterns.</a:t>
            </a:r>
            <a:endParaRPr/>
          </a:p>
        </p:txBody>
      </p:sp>
      <p:sp>
        <p:nvSpPr>
          <p:cNvPr id="764" name="Google Shape;764;p18"/>
          <p:cNvSpPr/>
          <p:nvPr/>
        </p:nvSpPr>
        <p:spPr>
          <a:xfrm>
            <a:off x="9410700" y="440055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Regression target</a:t>
            </a:r>
            <a:endParaRPr/>
          </a:p>
        </p:txBody>
      </p:sp>
      <p:sp>
        <p:nvSpPr>
          <p:cNvPr id="765" name="Google Shape;765;p18"/>
          <p:cNvSpPr/>
          <p:nvPr/>
        </p:nvSpPr>
        <p:spPr>
          <a:xfrm>
            <a:off x="9410700" y="46672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yᵢ = log(1 + mean visitsᵢ)</a:t>
            </a:r>
            <a:endParaRPr/>
          </a:p>
        </p:txBody>
      </p:sp>
      <p:sp>
        <p:nvSpPr>
          <p:cNvPr id="766" name="Google Shape;766;p18"/>
          <p:cNvSpPr/>
          <p:nvPr/>
        </p:nvSpPr>
        <p:spPr>
          <a:xfrm>
            <a:off x="9410700" y="50673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Reduces domination by extremely popular pages.</a:t>
            </a:r>
            <a:endParaRPr/>
          </a:p>
        </p:txBody>
      </p:sp>
      <p:sp>
        <p:nvSpPr>
          <p:cNvPr id="767" name="Google Shape;767;p18"/>
          <p:cNvSpPr/>
          <p:nvPr/>
        </p:nvSpPr>
        <p:spPr>
          <a:xfrm>
            <a:off x="9410700" y="54483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9E9A"/>
              </a:buClr>
              <a:buSzPts val="1125"/>
              <a:buFont typeface="Calibri"/>
              <a:buNone/>
            </a:pPr>
            <a:r>
              <a:rPr b="1" lang="en-US" sz="1125">
                <a:solidFill>
                  <a:srgbClr val="009E9A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endParaRPr/>
          </a:p>
        </p:txBody>
      </p:sp>
      <p:sp>
        <p:nvSpPr>
          <p:cNvPr id="768" name="Google Shape;768;p18"/>
          <p:cNvSpPr/>
          <p:nvPr/>
        </p:nvSpPr>
        <p:spPr>
          <a:xfrm>
            <a:off x="9410700" y="57340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minᵦ ‖y − Xβ‖² + α‖β‖²</a:t>
            </a:r>
            <a:endParaRPr/>
          </a:p>
        </p:txBody>
      </p:sp>
      <p:sp>
        <p:nvSpPr>
          <p:cNvPr id="769" name="Google Shape;769;p18"/>
          <p:cNvSpPr/>
          <p:nvPr/>
        </p:nvSpPr>
        <p:spPr>
          <a:xfrm>
            <a:off x="9410700" y="6134100"/>
            <a:ext cx="788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125"/>
              <a:buFont typeface="Calibri"/>
              <a:buNone/>
            </a:pPr>
            <a:r>
              <a:rPr lang="en-US" sz="112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Predicts attention from centrality and SVD features with coefficient shrinkage.</a:t>
            </a:r>
            <a:endParaRPr/>
          </a:p>
        </p:txBody>
      </p:sp>
      <p:sp>
        <p:nvSpPr>
          <p:cNvPr id="770" name="Google Shape;770;p18"/>
          <p:cNvSpPr/>
          <p:nvPr/>
        </p:nvSpPr>
        <p:spPr>
          <a:xfrm>
            <a:off x="9410700" y="6518605"/>
            <a:ext cx="7886700" cy="2725217"/>
          </a:xfrm>
          <a:prstGeom prst="roundRect">
            <a:avLst>
              <a:gd fmla="val 3495" name="adj"/>
            </a:avLst>
          </a:prstGeom>
          <a:solidFill>
            <a:srgbClr val="F6F8FA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9639300" y="6724650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9639300" y="714375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Wikipedia Math Essentials dataset from the UCI Machine Learning Repository; local file: wikivital_mathematics.json.</a:t>
            </a:r>
            <a:endParaRPr/>
          </a:p>
        </p:txBody>
      </p:sp>
      <p:sp>
        <p:nvSpPr>
          <p:cNvPr id="773" name="Google Shape;773;p18"/>
          <p:cNvSpPr/>
          <p:nvPr/>
        </p:nvSpPr>
        <p:spPr>
          <a:xfrm>
            <a:off x="9639300" y="78105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Project artifacts used: wikipedia_math_essentials_project.ipynb, proposal PDF, and wiki_math_outputs/*.csv plus generated plot PNGs.</a:t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>
            <a:off x="9639300" y="847725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Observed period: 2019-03-16 through 2021-03-15; 731 daily visit snapshots over 1,068 math pages.</a:t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990600" y="971550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776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5B6776"/>
                </a:solidFill>
                <a:latin typeface="Calibri"/>
                <a:ea typeface="Calibri"/>
                <a:cs typeface="Calibri"/>
                <a:sym typeface="Calibri"/>
              </a:rPr>
              <a:t>Sources: UCI Wikipedia Math Essentials dataset, wikivital_mathematics.json, project notebook, proposal PDF, and wiki_math_outputs artifacts.</a:t>
            </a:r>
            <a:endParaRPr/>
          </a:p>
        </p:txBody>
      </p:sp>
      <p:sp>
        <p:nvSpPr>
          <p:cNvPr id="776" name="Google Shape;776;p18"/>
          <p:cNvSpPr/>
          <p:nvPr/>
        </p:nvSpPr>
        <p:spPr>
          <a:xfrm>
            <a:off x="14916150" y="9810750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B8492"/>
              </a:buClr>
              <a:buSzPts val="975"/>
              <a:buFont typeface="Calibri"/>
              <a:buNone/>
            </a:pPr>
            <a:r>
              <a:rPr lang="en-US" sz="975">
                <a:solidFill>
                  <a:srgbClr val="7B8492"/>
                </a:solidFill>
                <a:latin typeface="Calibri"/>
                <a:ea typeface="Calibri"/>
                <a:cs typeface="Calibri"/>
                <a:sym typeface="Calibri"/>
              </a:rPr>
              <a:t>Wikipedia Math Essentials Network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